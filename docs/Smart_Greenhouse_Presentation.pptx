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8229600" cy="14630400"/>
  <p:embeddedFontLst>
    <p:embeddedFont>
      <p:font typeface="Calibri" panose="020F0502020204030204" pitchFamily="34" charset="0"/>
      <p:regular r:id="rId9"/>
      <p:bold r:id="rId10"/>
      <p:italic r:id="rId11"/>
      <p:boldItalic r:id="rId12"/>
    </p:embeddedFont>
    <p:embeddedFont>
      <p:font typeface="Kanit Light" panose="020B0604020202020204" charset="-34"/>
      <p:regular r:id="rId13"/>
    </p:embeddedFont>
    <p:embeddedFont>
      <p:font typeface="Martel Sans"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400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54906"/>
            <a:ext cx="7556421" cy="2126337"/>
          </a:xfrm>
          <a:prstGeom prst="rect">
            <a:avLst/>
          </a:prstGeom>
          <a:noFill/>
          <a:ln/>
        </p:spPr>
        <p:txBody>
          <a:bodyPr wrap="square" lIns="0" tIns="0" rIns="0" bIns="0" rtlCol="0" anchor="t"/>
          <a:lstStyle/>
          <a:p>
            <a:pPr marL="0" indent="0">
              <a:lnSpc>
                <a:spcPts val="5550"/>
              </a:lnSpc>
              <a:buNone/>
            </a:pPr>
            <a:r>
              <a:rPr lang="en-US" sz="4450" dirty="0">
                <a:solidFill>
                  <a:srgbClr val="272D45"/>
                </a:solidFill>
                <a:latin typeface="Kanit Light" pitchFamily="34" charset="0"/>
                <a:ea typeface="Kanit Light" pitchFamily="34" charset="-122"/>
                <a:cs typeface="Kanit Light" pitchFamily="34" charset="-120"/>
              </a:rPr>
              <a:t>Smart Greenhouse IoT System for Real-Time Monitoring and Alert</a:t>
            </a:r>
            <a:endParaRPr lang="en-US" sz="4450" dirty="0"/>
          </a:p>
        </p:txBody>
      </p:sp>
      <p:sp>
        <p:nvSpPr>
          <p:cNvPr id="4" name="Text 1"/>
          <p:cNvSpPr/>
          <p:nvPr/>
        </p:nvSpPr>
        <p:spPr>
          <a:xfrm>
            <a:off x="793790" y="3621405"/>
            <a:ext cx="7556421" cy="362903"/>
          </a:xfrm>
          <a:prstGeom prst="rect">
            <a:avLst/>
          </a:prstGeom>
          <a:noFill/>
          <a:ln/>
        </p:spPr>
        <p:txBody>
          <a:bodyPr wrap="non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Presented By: Akhil Rawat </a:t>
            </a:r>
            <a:endParaRPr lang="en-US" sz="1750" dirty="0"/>
          </a:p>
        </p:txBody>
      </p:sp>
      <p:sp>
        <p:nvSpPr>
          <p:cNvPr id="5" name="Text 2"/>
          <p:cNvSpPr/>
          <p:nvPr/>
        </p:nvSpPr>
        <p:spPr>
          <a:xfrm>
            <a:off x="793790" y="4239458"/>
            <a:ext cx="7556421" cy="362903"/>
          </a:xfrm>
          <a:prstGeom prst="rect">
            <a:avLst/>
          </a:prstGeom>
          <a:noFill/>
          <a:ln/>
        </p:spPr>
        <p:txBody>
          <a:bodyPr wrap="non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Class Roll No.: 09</a:t>
            </a:r>
            <a:endParaRPr lang="en-US" sz="1750" dirty="0"/>
          </a:p>
        </p:txBody>
      </p:sp>
      <p:sp>
        <p:nvSpPr>
          <p:cNvPr id="6" name="Text 3"/>
          <p:cNvSpPr/>
          <p:nvPr/>
        </p:nvSpPr>
        <p:spPr>
          <a:xfrm>
            <a:off x="793790" y="4857512"/>
            <a:ext cx="7556421" cy="362903"/>
          </a:xfrm>
          <a:prstGeom prst="rect">
            <a:avLst/>
          </a:prstGeom>
          <a:noFill/>
          <a:ln/>
        </p:spPr>
        <p:txBody>
          <a:bodyPr wrap="non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Roll No.: 2318259 </a:t>
            </a:r>
            <a:endParaRPr lang="en-US" sz="1750" dirty="0"/>
          </a:p>
        </p:txBody>
      </p:sp>
      <p:sp>
        <p:nvSpPr>
          <p:cNvPr id="7" name="Text 4"/>
          <p:cNvSpPr/>
          <p:nvPr/>
        </p:nvSpPr>
        <p:spPr>
          <a:xfrm>
            <a:off x="793790" y="5475565"/>
            <a:ext cx="7556421" cy="362903"/>
          </a:xfrm>
          <a:prstGeom prst="rect">
            <a:avLst/>
          </a:prstGeom>
          <a:noFill/>
          <a:ln/>
        </p:spPr>
        <p:txBody>
          <a:bodyPr wrap="non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Section: E1</a:t>
            </a:r>
            <a:endParaRPr lang="en-US" sz="1750" dirty="0"/>
          </a:p>
        </p:txBody>
      </p:sp>
      <p:sp>
        <p:nvSpPr>
          <p:cNvPr id="8" name="Text 5"/>
          <p:cNvSpPr/>
          <p:nvPr/>
        </p:nvSpPr>
        <p:spPr>
          <a:xfrm>
            <a:off x="793790" y="6093619"/>
            <a:ext cx="7556421" cy="362903"/>
          </a:xfrm>
          <a:prstGeom prst="rect">
            <a:avLst/>
          </a:prstGeom>
          <a:noFill/>
          <a:ln/>
        </p:spPr>
        <p:txBody>
          <a:bodyPr wrap="non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 Semester: III</a:t>
            </a:r>
            <a:endParaRPr lang="en-US" sz="1750" dirty="0"/>
          </a:p>
        </p:txBody>
      </p:sp>
      <p:sp>
        <p:nvSpPr>
          <p:cNvPr id="9" name="Text 6"/>
          <p:cNvSpPr/>
          <p:nvPr/>
        </p:nvSpPr>
        <p:spPr>
          <a:xfrm>
            <a:off x="793790" y="6711672"/>
            <a:ext cx="7556421" cy="362903"/>
          </a:xfrm>
          <a:prstGeom prst="rect">
            <a:avLst/>
          </a:prstGeom>
          <a:noFill/>
          <a:ln/>
        </p:spPr>
        <p:txBody>
          <a:bodyPr wrap="non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Submitted To: Mr. Shushant Chamoli</a:t>
            </a:r>
            <a:endParaRPr lang="en-US" sz="1750"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pattFill prst="pct20">
          <a:fgClr>
            <a:schemeClr val="accent1"/>
          </a:fgClr>
          <a:bgClr>
            <a:schemeClr val="bg1"/>
          </a:bgClr>
        </a:pattFill>
        <a:effectLst/>
      </p:bgPr>
    </p:bg>
    <p:spTree>
      <p:nvGrpSpPr>
        <p:cNvPr id="1" name=""/>
        <p:cNvGrpSpPr/>
        <p:nvPr/>
      </p:nvGrpSpPr>
      <p:grpSpPr>
        <a:xfrm>
          <a:off x="0" y="0"/>
          <a:ext cx="0" cy="0"/>
          <a:chOff x="0" y="0"/>
          <a:chExt cx="0" cy="0"/>
        </a:xfrm>
      </p:grpSpPr>
      <p:sp>
        <p:nvSpPr>
          <p:cNvPr id="2" name="Text 0"/>
          <p:cNvSpPr/>
          <p:nvPr/>
        </p:nvSpPr>
        <p:spPr>
          <a:xfrm>
            <a:off x="793790" y="2160151"/>
            <a:ext cx="5670590" cy="708779"/>
          </a:xfrm>
          <a:prstGeom prst="rect">
            <a:avLst/>
          </a:prstGeom>
          <a:noFill/>
          <a:ln/>
        </p:spPr>
        <p:txBody>
          <a:bodyPr wrap="none" lIns="0" tIns="0" rIns="0" bIns="0" rtlCol="0" anchor="t"/>
          <a:lstStyle/>
          <a:p>
            <a:pPr marL="0" indent="0">
              <a:lnSpc>
                <a:spcPts val="5550"/>
              </a:lnSpc>
              <a:buNone/>
            </a:pPr>
            <a:r>
              <a:rPr lang="en-US" sz="4450" dirty="0">
                <a:solidFill>
                  <a:srgbClr val="272D45"/>
                </a:solidFill>
                <a:latin typeface="Kanit Light" pitchFamily="34" charset="0"/>
                <a:ea typeface="Kanit Light" pitchFamily="34" charset="-122"/>
                <a:cs typeface="Kanit Light" pitchFamily="34" charset="-120"/>
              </a:rPr>
              <a:t>Project Overview</a:t>
            </a:r>
            <a:endParaRPr lang="en-US" sz="4450" dirty="0"/>
          </a:p>
        </p:txBody>
      </p:sp>
      <p:sp>
        <p:nvSpPr>
          <p:cNvPr id="3" name="Text 1"/>
          <p:cNvSpPr/>
          <p:nvPr/>
        </p:nvSpPr>
        <p:spPr>
          <a:xfrm>
            <a:off x="793790" y="3435906"/>
            <a:ext cx="2835235" cy="354330"/>
          </a:xfrm>
          <a:prstGeom prst="rect">
            <a:avLst/>
          </a:prstGeom>
          <a:noFill/>
          <a:ln/>
        </p:spPr>
        <p:txBody>
          <a:bodyPr wrap="none" lIns="0" tIns="0" rIns="0" bIns="0" rtlCol="0" anchor="t"/>
          <a:lstStyle/>
          <a:p>
            <a:pPr marL="0" indent="0">
              <a:lnSpc>
                <a:spcPts val="2750"/>
              </a:lnSpc>
              <a:buNone/>
            </a:pPr>
            <a:r>
              <a:rPr lang="en-US" sz="2200" dirty="0">
                <a:solidFill>
                  <a:srgbClr val="272D45"/>
                </a:solidFill>
                <a:latin typeface="Kanit Light" pitchFamily="34" charset="0"/>
                <a:ea typeface="Kanit Light" pitchFamily="34" charset="-122"/>
                <a:cs typeface="Kanit Light" pitchFamily="34" charset="-120"/>
              </a:rPr>
              <a:t>Description</a:t>
            </a:r>
            <a:endParaRPr lang="en-US" sz="2200" dirty="0"/>
          </a:p>
        </p:txBody>
      </p:sp>
      <p:sp>
        <p:nvSpPr>
          <p:cNvPr id="4" name="Text 2"/>
          <p:cNvSpPr/>
          <p:nvPr/>
        </p:nvSpPr>
        <p:spPr>
          <a:xfrm>
            <a:off x="793790" y="4017050"/>
            <a:ext cx="6244709" cy="1814513"/>
          </a:xfrm>
          <a:prstGeom prst="rect">
            <a:avLst/>
          </a:prstGeom>
          <a:noFill/>
          <a:ln/>
        </p:spPr>
        <p:txBody>
          <a:bodyPr wrap="squar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This project automates the monitoring of greenhouse conditions using IoT technologies. It integrates sensors to measure temperature, humidity, soil moisture, light intensity, and proximity. Real-time data is sent to the Blynk app for monitoring and alerts.</a:t>
            </a:r>
            <a:endParaRPr lang="en-US" sz="1750" dirty="0"/>
          </a:p>
        </p:txBody>
      </p:sp>
      <p:sp>
        <p:nvSpPr>
          <p:cNvPr id="5" name="Text 3"/>
          <p:cNvSpPr/>
          <p:nvPr/>
        </p:nvSpPr>
        <p:spPr>
          <a:xfrm>
            <a:off x="7599521" y="3435906"/>
            <a:ext cx="2835235" cy="354330"/>
          </a:xfrm>
          <a:prstGeom prst="rect">
            <a:avLst/>
          </a:prstGeom>
          <a:noFill/>
          <a:ln/>
        </p:spPr>
        <p:txBody>
          <a:bodyPr wrap="none" lIns="0" tIns="0" rIns="0" bIns="0" rtlCol="0" anchor="t"/>
          <a:lstStyle/>
          <a:p>
            <a:pPr marL="0" indent="0">
              <a:lnSpc>
                <a:spcPts val="2750"/>
              </a:lnSpc>
              <a:buNone/>
            </a:pPr>
            <a:r>
              <a:rPr lang="en-US" sz="2200" dirty="0">
                <a:solidFill>
                  <a:srgbClr val="272D45"/>
                </a:solidFill>
                <a:latin typeface="Kanit Light" pitchFamily="34" charset="0"/>
                <a:ea typeface="Kanit Light" pitchFamily="34" charset="-122"/>
                <a:cs typeface="Kanit Light" pitchFamily="34" charset="-120"/>
              </a:rPr>
              <a:t>Objective</a:t>
            </a:r>
            <a:endParaRPr lang="en-US" sz="2200" dirty="0"/>
          </a:p>
        </p:txBody>
      </p:sp>
      <p:sp>
        <p:nvSpPr>
          <p:cNvPr id="6" name="Text 4"/>
          <p:cNvSpPr/>
          <p:nvPr/>
        </p:nvSpPr>
        <p:spPr>
          <a:xfrm>
            <a:off x="7599521" y="4017050"/>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Ensure optimal plant growth through real-time data analysis.</a:t>
            </a:r>
            <a:endParaRPr lang="en-US" sz="1750" dirty="0"/>
          </a:p>
        </p:txBody>
      </p:sp>
      <p:sp>
        <p:nvSpPr>
          <p:cNvPr id="7" name="Text 5"/>
          <p:cNvSpPr/>
          <p:nvPr/>
        </p:nvSpPr>
        <p:spPr>
          <a:xfrm>
            <a:off x="7599521" y="4822150"/>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Provide timely alerts for critical conditions like low moisture or nearby object detection.</a:t>
            </a:r>
            <a:endParaRPr lang="en-US" sz="1750" dirty="0"/>
          </a:p>
        </p:txBody>
      </p:sp>
      <p:sp>
        <p:nvSpPr>
          <p:cNvPr id="8" name="Text 6"/>
          <p:cNvSpPr/>
          <p:nvPr/>
        </p:nvSpPr>
        <p:spPr>
          <a:xfrm>
            <a:off x="7599521" y="562725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Simplify plant care with minimal manual intervention.</a:t>
            </a:r>
            <a:endParaRPr lang="en-US" sz="1750" dirty="0"/>
          </a:p>
        </p:txBody>
      </p:sp>
      <p:sp>
        <p:nvSpPr>
          <p:cNvPr id="9" name="Rectangle 8">
            <a:extLst>
              <a:ext uri="{FF2B5EF4-FFF2-40B4-BE49-F238E27FC236}">
                <a16:creationId xmlns:a16="http://schemas.microsoft.com/office/drawing/2014/main" id="{71EF03D5-7D41-952B-BDFC-BA17C4C67F1A}"/>
              </a:ext>
            </a:extLst>
          </p:cNvPr>
          <p:cNvSpPr/>
          <p:nvPr/>
        </p:nvSpPr>
        <p:spPr>
          <a:xfrm>
            <a:off x="12444761" y="7237141"/>
            <a:ext cx="2185639" cy="992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859756"/>
            <a:ext cx="7176254" cy="708779"/>
          </a:xfrm>
          <a:prstGeom prst="rect">
            <a:avLst/>
          </a:prstGeom>
          <a:noFill/>
          <a:ln/>
        </p:spPr>
        <p:txBody>
          <a:bodyPr wrap="none" lIns="0" tIns="0" rIns="0" bIns="0" rtlCol="0" anchor="t"/>
          <a:lstStyle/>
          <a:p>
            <a:pPr marL="0" indent="0">
              <a:lnSpc>
                <a:spcPts val="5550"/>
              </a:lnSpc>
              <a:buNone/>
            </a:pPr>
            <a:r>
              <a:rPr lang="en-US" sz="4450" dirty="0">
                <a:solidFill>
                  <a:srgbClr val="272D45"/>
                </a:solidFill>
                <a:latin typeface="Kanit Light" pitchFamily="34" charset="0"/>
                <a:ea typeface="Kanit Light" pitchFamily="34" charset="-122"/>
                <a:cs typeface="Kanit Light" pitchFamily="34" charset="-120"/>
              </a:rPr>
              <a:t>Tools and Technologies Used</a:t>
            </a:r>
            <a:endParaRPr lang="en-US" sz="4450" dirty="0"/>
          </a:p>
        </p:txBody>
      </p:sp>
      <p:sp>
        <p:nvSpPr>
          <p:cNvPr id="3" name="Text 1"/>
          <p:cNvSpPr/>
          <p:nvPr/>
        </p:nvSpPr>
        <p:spPr>
          <a:xfrm>
            <a:off x="793790" y="313551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272D45"/>
                </a:solidFill>
                <a:latin typeface="Kanit Light" pitchFamily="34" charset="0"/>
                <a:ea typeface="Kanit Light" pitchFamily="34" charset="-122"/>
                <a:cs typeface="Kanit Light" pitchFamily="34" charset="-120"/>
              </a:rPr>
              <a:t>Hardware</a:t>
            </a:r>
            <a:endParaRPr lang="en-US" sz="2200" dirty="0"/>
          </a:p>
        </p:txBody>
      </p:sp>
      <p:sp>
        <p:nvSpPr>
          <p:cNvPr id="4" name="Text 2"/>
          <p:cNvSpPr/>
          <p:nvPr/>
        </p:nvSpPr>
        <p:spPr>
          <a:xfrm>
            <a:off x="793790" y="371665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ESP8266 (NodeMCU): IoT microcontroller</a:t>
            </a:r>
            <a:endParaRPr lang="en-US" sz="1750" dirty="0"/>
          </a:p>
        </p:txBody>
      </p:sp>
      <p:sp>
        <p:nvSpPr>
          <p:cNvPr id="5" name="Text 3"/>
          <p:cNvSpPr/>
          <p:nvPr/>
        </p:nvSpPr>
        <p:spPr>
          <a:xfrm>
            <a:off x="793790" y="415885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DHT11 Sensor: Measures temperature and humidity</a:t>
            </a:r>
            <a:endParaRPr lang="en-US" sz="1750" dirty="0"/>
          </a:p>
        </p:txBody>
      </p:sp>
      <p:sp>
        <p:nvSpPr>
          <p:cNvPr id="6" name="Text 4"/>
          <p:cNvSpPr/>
          <p:nvPr/>
        </p:nvSpPr>
        <p:spPr>
          <a:xfrm>
            <a:off x="793790" y="460105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Soil Moisture Sensor: Tracks soil water content</a:t>
            </a:r>
            <a:endParaRPr lang="en-US" sz="1750" dirty="0"/>
          </a:p>
        </p:txBody>
      </p:sp>
      <p:sp>
        <p:nvSpPr>
          <p:cNvPr id="7" name="Text 5"/>
          <p:cNvSpPr/>
          <p:nvPr/>
        </p:nvSpPr>
        <p:spPr>
          <a:xfrm>
            <a:off x="793790" y="504324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LDR: Monitors light intensity</a:t>
            </a:r>
            <a:endParaRPr lang="en-US" sz="1750" dirty="0"/>
          </a:p>
        </p:txBody>
      </p:sp>
      <p:sp>
        <p:nvSpPr>
          <p:cNvPr id="8" name="Text 6"/>
          <p:cNvSpPr/>
          <p:nvPr/>
        </p:nvSpPr>
        <p:spPr>
          <a:xfrm>
            <a:off x="793790" y="548544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Ultrasonic Sensor: Detects proximity</a:t>
            </a:r>
            <a:endParaRPr lang="en-US" sz="1750" dirty="0"/>
          </a:p>
        </p:txBody>
      </p:sp>
      <p:sp>
        <p:nvSpPr>
          <p:cNvPr id="9" name="Text 7"/>
          <p:cNvSpPr/>
          <p:nvPr/>
        </p:nvSpPr>
        <p:spPr>
          <a:xfrm>
            <a:off x="793790" y="592764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Buzzer &amp; LED: Alerts for critical conditions</a:t>
            </a:r>
            <a:endParaRPr lang="en-US" sz="1750" dirty="0"/>
          </a:p>
        </p:txBody>
      </p:sp>
      <p:sp>
        <p:nvSpPr>
          <p:cNvPr id="10" name="Text 8"/>
          <p:cNvSpPr/>
          <p:nvPr/>
        </p:nvSpPr>
        <p:spPr>
          <a:xfrm>
            <a:off x="7599521" y="3135511"/>
            <a:ext cx="2835235" cy="354330"/>
          </a:xfrm>
          <a:prstGeom prst="rect">
            <a:avLst/>
          </a:prstGeom>
          <a:noFill/>
          <a:ln/>
        </p:spPr>
        <p:txBody>
          <a:bodyPr wrap="none" lIns="0" tIns="0" rIns="0" bIns="0" rtlCol="0" anchor="t"/>
          <a:lstStyle/>
          <a:p>
            <a:pPr marL="0" indent="0">
              <a:lnSpc>
                <a:spcPts val="2750"/>
              </a:lnSpc>
              <a:buNone/>
            </a:pPr>
            <a:r>
              <a:rPr lang="en-US" sz="2200" dirty="0">
                <a:solidFill>
                  <a:srgbClr val="272D45"/>
                </a:solidFill>
                <a:latin typeface="Kanit Light" pitchFamily="34" charset="0"/>
                <a:ea typeface="Kanit Light" pitchFamily="34" charset="-122"/>
                <a:cs typeface="Kanit Light" pitchFamily="34" charset="-120"/>
              </a:rPr>
              <a:t>Software</a:t>
            </a:r>
            <a:endParaRPr lang="en-US" sz="2200" dirty="0"/>
          </a:p>
        </p:txBody>
      </p:sp>
      <p:sp>
        <p:nvSpPr>
          <p:cNvPr id="11" name="Text 9"/>
          <p:cNvSpPr/>
          <p:nvPr/>
        </p:nvSpPr>
        <p:spPr>
          <a:xfrm>
            <a:off x="7599521" y="371665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Arduino IDE: For programming</a:t>
            </a:r>
            <a:endParaRPr lang="en-US" sz="1750" dirty="0"/>
          </a:p>
        </p:txBody>
      </p:sp>
      <p:sp>
        <p:nvSpPr>
          <p:cNvPr id="12" name="Text 10"/>
          <p:cNvSpPr/>
          <p:nvPr/>
        </p:nvSpPr>
        <p:spPr>
          <a:xfrm>
            <a:off x="7599521" y="415885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Blynk IoT Platform: For remote monitoring</a:t>
            </a:r>
            <a:endParaRPr lang="en-US" sz="1750" dirty="0"/>
          </a:p>
        </p:txBody>
      </p:sp>
      <p:sp>
        <p:nvSpPr>
          <p:cNvPr id="13" name="Text 11"/>
          <p:cNvSpPr/>
          <p:nvPr/>
        </p:nvSpPr>
        <p:spPr>
          <a:xfrm>
            <a:off x="7599521" y="468034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Programming: C++</a:t>
            </a:r>
            <a:endParaRPr lang="en-US" sz="1750" dirty="0"/>
          </a:p>
        </p:txBody>
      </p:sp>
      <p:sp>
        <p:nvSpPr>
          <p:cNvPr id="14" name="Rectangle 13">
            <a:extLst>
              <a:ext uri="{FF2B5EF4-FFF2-40B4-BE49-F238E27FC236}">
                <a16:creationId xmlns:a16="http://schemas.microsoft.com/office/drawing/2014/main" id="{1438010A-96D5-B950-1CCC-DC1B11279404}"/>
              </a:ext>
            </a:extLst>
          </p:cNvPr>
          <p:cNvSpPr/>
          <p:nvPr/>
        </p:nvSpPr>
        <p:spPr>
          <a:xfrm>
            <a:off x="12444761" y="7237141"/>
            <a:ext cx="2185639" cy="992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3053"/>
          </a:xfrm>
          <a:prstGeom prst="rect">
            <a:avLst/>
          </a:prstGeom>
        </p:spPr>
      </p:pic>
      <p:sp>
        <p:nvSpPr>
          <p:cNvPr id="3" name="Text 0"/>
          <p:cNvSpPr/>
          <p:nvPr/>
        </p:nvSpPr>
        <p:spPr>
          <a:xfrm>
            <a:off x="793790" y="623768"/>
            <a:ext cx="5670590" cy="708779"/>
          </a:xfrm>
          <a:prstGeom prst="rect">
            <a:avLst/>
          </a:prstGeom>
          <a:noFill/>
          <a:ln/>
        </p:spPr>
        <p:txBody>
          <a:bodyPr wrap="none" lIns="0" tIns="0" rIns="0" bIns="0" rtlCol="0" anchor="t"/>
          <a:lstStyle/>
          <a:p>
            <a:pPr marL="0" indent="0">
              <a:lnSpc>
                <a:spcPts val="5550"/>
              </a:lnSpc>
              <a:buNone/>
            </a:pPr>
            <a:r>
              <a:rPr lang="en-US" sz="4450" dirty="0">
                <a:solidFill>
                  <a:srgbClr val="272D45"/>
                </a:solidFill>
                <a:latin typeface="Kanit Light" pitchFamily="34" charset="0"/>
                <a:ea typeface="Kanit Light" pitchFamily="34" charset="-122"/>
                <a:cs typeface="Kanit Light" pitchFamily="34" charset="-120"/>
              </a:rPr>
              <a:t>Key Features</a:t>
            </a:r>
            <a:endParaRPr lang="en-US" sz="4450" dirty="0"/>
          </a:p>
        </p:txBody>
      </p:sp>
      <p:sp>
        <p:nvSpPr>
          <p:cNvPr id="4" name="Shape 1"/>
          <p:cNvSpPr/>
          <p:nvPr/>
        </p:nvSpPr>
        <p:spPr>
          <a:xfrm>
            <a:off x="793790" y="1927860"/>
            <a:ext cx="510302" cy="510302"/>
          </a:xfrm>
          <a:prstGeom prst="roundRect">
            <a:avLst>
              <a:gd name="adj" fmla="val 18669"/>
            </a:avLst>
          </a:prstGeom>
          <a:solidFill>
            <a:srgbClr val="DFECE9"/>
          </a:solidFill>
          <a:ln w="7620">
            <a:solidFill>
              <a:srgbClr val="C5D2CF"/>
            </a:solidFill>
            <a:prstDash val="solid"/>
          </a:ln>
        </p:spPr>
      </p:sp>
      <p:sp>
        <p:nvSpPr>
          <p:cNvPr id="5" name="Text 2"/>
          <p:cNvSpPr/>
          <p:nvPr/>
        </p:nvSpPr>
        <p:spPr>
          <a:xfrm>
            <a:off x="997148" y="2012871"/>
            <a:ext cx="103465" cy="340281"/>
          </a:xfrm>
          <a:prstGeom prst="rect">
            <a:avLst/>
          </a:prstGeom>
          <a:noFill/>
          <a:ln/>
        </p:spPr>
        <p:txBody>
          <a:bodyPr wrap="none" lIns="0" tIns="0" rIns="0" bIns="0" rtlCol="0" anchor="t"/>
          <a:lstStyle/>
          <a:p>
            <a:pPr marL="0" indent="0" algn="ctr">
              <a:lnSpc>
                <a:spcPts val="2650"/>
              </a:lnSpc>
              <a:buNone/>
            </a:pPr>
            <a:r>
              <a:rPr lang="en-US" sz="2650" dirty="0">
                <a:solidFill>
                  <a:srgbClr val="2C3249"/>
                </a:solidFill>
                <a:latin typeface="Kanit Light" pitchFamily="34" charset="0"/>
                <a:ea typeface="Kanit Light" pitchFamily="34" charset="-122"/>
                <a:cs typeface="Kanit Light" pitchFamily="34" charset="-120"/>
              </a:rPr>
              <a:t>1</a:t>
            </a:r>
            <a:endParaRPr lang="en-US" sz="2650" dirty="0"/>
          </a:p>
        </p:txBody>
      </p:sp>
      <p:sp>
        <p:nvSpPr>
          <p:cNvPr id="6" name="Text 3"/>
          <p:cNvSpPr/>
          <p:nvPr/>
        </p:nvSpPr>
        <p:spPr>
          <a:xfrm>
            <a:off x="1530906" y="192786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2C3249"/>
                </a:solidFill>
                <a:latin typeface="Kanit Light" pitchFamily="34" charset="0"/>
                <a:ea typeface="Kanit Light" pitchFamily="34" charset="-122"/>
                <a:cs typeface="Kanit Light" pitchFamily="34" charset="-120"/>
              </a:rPr>
              <a:t>Real-Time Monitoring</a:t>
            </a:r>
            <a:endParaRPr lang="en-US" sz="2200" dirty="0"/>
          </a:p>
        </p:txBody>
      </p:sp>
      <p:sp>
        <p:nvSpPr>
          <p:cNvPr id="7" name="Text 4"/>
          <p:cNvSpPr/>
          <p:nvPr/>
        </p:nvSpPr>
        <p:spPr>
          <a:xfrm>
            <a:off x="1530906" y="2418278"/>
            <a:ext cx="2927747" cy="1451610"/>
          </a:xfrm>
          <a:prstGeom prst="rect">
            <a:avLst/>
          </a:prstGeom>
          <a:noFill/>
          <a:ln/>
        </p:spPr>
        <p:txBody>
          <a:bodyPr wrap="squar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Temperature, humidity, soil moisture, light intensity, and object proximity.</a:t>
            </a:r>
            <a:endParaRPr lang="en-US" sz="1750" dirty="0"/>
          </a:p>
        </p:txBody>
      </p:sp>
      <p:sp>
        <p:nvSpPr>
          <p:cNvPr id="8" name="Shape 5"/>
          <p:cNvSpPr/>
          <p:nvPr/>
        </p:nvSpPr>
        <p:spPr>
          <a:xfrm>
            <a:off x="4685467" y="1927860"/>
            <a:ext cx="510302" cy="510302"/>
          </a:xfrm>
          <a:prstGeom prst="roundRect">
            <a:avLst>
              <a:gd name="adj" fmla="val 18669"/>
            </a:avLst>
          </a:prstGeom>
          <a:solidFill>
            <a:srgbClr val="DFECE9"/>
          </a:solidFill>
          <a:ln w="7620">
            <a:solidFill>
              <a:srgbClr val="C5D2CF"/>
            </a:solidFill>
            <a:prstDash val="solid"/>
          </a:ln>
        </p:spPr>
      </p:sp>
      <p:sp>
        <p:nvSpPr>
          <p:cNvPr id="9" name="Text 6"/>
          <p:cNvSpPr/>
          <p:nvPr/>
        </p:nvSpPr>
        <p:spPr>
          <a:xfrm>
            <a:off x="4854535" y="2012871"/>
            <a:ext cx="172164" cy="340281"/>
          </a:xfrm>
          <a:prstGeom prst="rect">
            <a:avLst/>
          </a:prstGeom>
          <a:noFill/>
          <a:ln/>
        </p:spPr>
        <p:txBody>
          <a:bodyPr wrap="none" lIns="0" tIns="0" rIns="0" bIns="0" rtlCol="0" anchor="t"/>
          <a:lstStyle/>
          <a:p>
            <a:pPr marL="0" indent="0" algn="ctr">
              <a:lnSpc>
                <a:spcPts val="2650"/>
              </a:lnSpc>
              <a:buNone/>
            </a:pPr>
            <a:r>
              <a:rPr lang="en-US" sz="2650" dirty="0">
                <a:solidFill>
                  <a:srgbClr val="2C3249"/>
                </a:solidFill>
                <a:latin typeface="Kanit Light" pitchFamily="34" charset="0"/>
                <a:ea typeface="Kanit Light" pitchFamily="34" charset="-122"/>
                <a:cs typeface="Kanit Light" pitchFamily="34" charset="-120"/>
              </a:rPr>
              <a:t>2</a:t>
            </a:r>
            <a:endParaRPr lang="en-US" sz="2650" dirty="0"/>
          </a:p>
        </p:txBody>
      </p:sp>
      <p:sp>
        <p:nvSpPr>
          <p:cNvPr id="10" name="Text 7"/>
          <p:cNvSpPr/>
          <p:nvPr/>
        </p:nvSpPr>
        <p:spPr>
          <a:xfrm>
            <a:off x="5422583" y="192786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2C3249"/>
                </a:solidFill>
                <a:latin typeface="Kanit Light" pitchFamily="34" charset="0"/>
                <a:ea typeface="Kanit Light" pitchFamily="34" charset="-122"/>
                <a:cs typeface="Kanit Light" pitchFamily="34" charset="-120"/>
              </a:rPr>
              <a:t>Automated Alerts</a:t>
            </a:r>
            <a:endParaRPr lang="en-US" sz="2200" dirty="0"/>
          </a:p>
        </p:txBody>
      </p:sp>
      <p:sp>
        <p:nvSpPr>
          <p:cNvPr id="11" name="Text 8"/>
          <p:cNvSpPr/>
          <p:nvPr/>
        </p:nvSpPr>
        <p:spPr>
          <a:xfrm>
            <a:off x="5422583" y="2418278"/>
            <a:ext cx="2927747" cy="1814513"/>
          </a:xfrm>
          <a:prstGeom prst="rect">
            <a:avLst/>
          </a:prstGeom>
          <a:noFill/>
          <a:ln/>
        </p:spPr>
        <p:txBody>
          <a:bodyPr wrap="squar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Low soil moisture triggers LED and app notification. Proximity detection activates a buzzer and sends an alert.</a:t>
            </a:r>
            <a:endParaRPr lang="en-US" sz="1750" dirty="0"/>
          </a:p>
        </p:txBody>
      </p:sp>
      <p:sp>
        <p:nvSpPr>
          <p:cNvPr id="12" name="Shape 9"/>
          <p:cNvSpPr/>
          <p:nvPr/>
        </p:nvSpPr>
        <p:spPr>
          <a:xfrm>
            <a:off x="793790" y="4714756"/>
            <a:ext cx="510302" cy="510302"/>
          </a:xfrm>
          <a:prstGeom prst="roundRect">
            <a:avLst>
              <a:gd name="adj" fmla="val 18669"/>
            </a:avLst>
          </a:prstGeom>
          <a:solidFill>
            <a:srgbClr val="DFECE9"/>
          </a:solidFill>
          <a:ln w="7620">
            <a:solidFill>
              <a:srgbClr val="C5D2CF"/>
            </a:solidFill>
            <a:prstDash val="solid"/>
          </a:ln>
        </p:spPr>
      </p:sp>
      <p:sp>
        <p:nvSpPr>
          <p:cNvPr id="13" name="Text 10"/>
          <p:cNvSpPr/>
          <p:nvPr/>
        </p:nvSpPr>
        <p:spPr>
          <a:xfrm>
            <a:off x="961430" y="4799767"/>
            <a:ext cx="174903" cy="340281"/>
          </a:xfrm>
          <a:prstGeom prst="rect">
            <a:avLst/>
          </a:prstGeom>
          <a:noFill/>
          <a:ln/>
        </p:spPr>
        <p:txBody>
          <a:bodyPr wrap="none" lIns="0" tIns="0" rIns="0" bIns="0" rtlCol="0" anchor="t"/>
          <a:lstStyle/>
          <a:p>
            <a:pPr marL="0" indent="0" algn="ctr">
              <a:lnSpc>
                <a:spcPts val="2650"/>
              </a:lnSpc>
              <a:buNone/>
            </a:pPr>
            <a:r>
              <a:rPr lang="en-US" sz="2650" dirty="0">
                <a:solidFill>
                  <a:srgbClr val="2C3249"/>
                </a:solidFill>
                <a:latin typeface="Kanit Light" pitchFamily="34" charset="0"/>
                <a:ea typeface="Kanit Light" pitchFamily="34" charset="-122"/>
                <a:cs typeface="Kanit Light" pitchFamily="34" charset="-120"/>
              </a:rPr>
              <a:t>3</a:t>
            </a:r>
            <a:endParaRPr lang="en-US" sz="2650" dirty="0"/>
          </a:p>
        </p:txBody>
      </p:sp>
      <p:sp>
        <p:nvSpPr>
          <p:cNvPr id="14" name="Text 11"/>
          <p:cNvSpPr/>
          <p:nvPr/>
        </p:nvSpPr>
        <p:spPr>
          <a:xfrm>
            <a:off x="1530906" y="4714756"/>
            <a:ext cx="2835235" cy="354330"/>
          </a:xfrm>
          <a:prstGeom prst="rect">
            <a:avLst/>
          </a:prstGeom>
          <a:noFill/>
          <a:ln/>
        </p:spPr>
        <p:txBody>
          <a:bodyPr wrap="none" lIns="0" tIns="0" rIns="0" bIns="0" rtlCol="0" anchor="t"/>
          <a:lstStyle/>
          <a:p>
            <a:pPr marL="0" indent="0">
              <a:lnSpc>
                <a:spcPts val="2750"/>
              </a:lnSpc>
              <a:buNone/>
            </a:pPr>
            <a:r>
              <a:rPr lang="en-US" sz="2200" dirty="0">
                <a:solidFill>
                  <a:srgbClr val="2C3249"/>
                </a:solidFill>
                <a:latin typeface="Kanit Light" pitchFamily="34" charset="0"/>
                <a:ea typeface="Kanit Light" pitchFamily="34" charset="-122"/>
                <a:cs typeface="Kanit Light" pitchFamily="34" charset="-120"/>
              </a:rPr>
              <a:t>IoT Integration</a:t>
            </a:r>
            <a:endParaRPr lang="en-US" sz="2200" dirty="0"/>
          </a:p>
        </p:txBody>
      </p:sp>
      <p:sp>
        <p:nvSpPr>
          <p:cNvPr id="15" name="Text 12"/>
          <p:cNvSpPr/>
          <p:nvPr/>
        </p:nvSpPr>
        <p:spPr>
          <a:xfrm>
            <a:off x="1530906" y="5205174"/>
            <a:ext cx="6819305" cy="725805"/>
          </a:xfrm>
          <a:prstGeom prst="rect">
            <a:avLst/>
          </a:prstGeom>
          <a:noFill/>
          <a:ln/>
        </p:spPr>
        <p:txBody>
          <a:bodyPr wrap="squar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Data uploaded to Blynk cloud for remote access. Accessible via mobile app.</a:t>
            </a:r>
            <a:endParaRPr lang="en-US" sz="1750" dirty="0"/>
          </a:p>
        </p:txBody>
      </p:sp>
      <p:sp>
        <p:nvSpPr>
          <p:cNvPr id="16" name="Text 13"/>
          <p:cNvSpPr/>
          <p:nvPr/>
        </p:nvSpPr>
        <p:spPr>
          <a:xfrm>
            <a:off x="793790" y="6186130"/>
            <a:ext cx="7556421" cy="362903"/>
          </a:xfrm>
          <a:prstGeom prst="rect">
            <a:avLst/>
          </a:prstGeom>
          <a:noFill/>
          <a:ln/>
        </p:spPr>
        <p:txBody>
          <a:bodyPr wrap="non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User Benefits:</a:t>
            </a:r>
            <a:endParaRPr lang="en-US" sz="1750" dirty="0"/>
          </a:p>
        </p:txBody>
      </p:sp>
      <p:sp>
        <p:nvSpPr>
          <p:cNvPr id="17" name="Text 14"/>
          <p:cNvSpPr/>
          <p:nvPr/>
        </p:nvSpPr>
        <p:spPr>
          <a:xfrm>
            <a:off x="793790" y="6804184"/>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Efficient plant care with minimal manual effort.</a:t>
            </a:r>
            <a:endParaRPr lang="en-US" sz="1750" dirty="0"/>
          </a:p>
        </p:txBody>
      </p:sp>
      <p:sp>
        <p:nvSpPr>
          <p:cNvPr id="18" name="Text 15"/>
          <p:cNvSpPr/>
          <p:nvPr/>
        </p:nvSpPr>
        <p:spPr>
          <a:xfrm>
            <a:off x="793790" y="7246382"/>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Improved plant health and optimized resource usage.</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341602"/>
            <a:ext cx="5834777" cy="708779"/>
          </a:xfrm>
          <a:prstGeom prst="rect">
            <a:avLst/>
          </a:prstGeom>
          <a:noFill/>
          <a:ln/>
        </p:spPr>
        <p:txBody>
          <a:bodyPr wrap="none" lIns="0" tIns="0" rIns="0" bIns="0" rtlCol="0" anchor="t"/>
          <a:lstStyle/>
          <a:p>
            <a:pPr marL="0" indent="0">
              <a:lnSpc>
                <a:spcPts val="5550"/>
              </a:lnSpc>
              <a:buNone/>
            </a:pPr>
            <a:r>
              <a:rPr lang="en-US" sz="4450" dirty="0">
                <a:solidFill>
                  <a:srgbClr val="272D45"/>
                </a:solidFill>
                <a:latin typeface="Kanit Light" pitchFamily="34" charset="0"/>
                <a:ea typeface="Kanit Light" pitchFamily="34" charset="-122"/>
                <a:cs typeface="Kanit Light" pitchFamily="34" charset="-120"/>
              </a:rPr>
              <a:t>Results and Limitations</a:t>
            </a:r>
            <a:endParaRPr lang="en-US" sz="4450" dirty="0"/>
          </a:p>
        </p:txBody>
      </p:sp>
      <p:sp>
        <p:nvSpPr>
          <p:cNvPr id="3" name="Text 1"/>
          <p:cNvSpPr/>
          <p:nvPr/>
        </p:nvSpPr>
        <p:spPr>
          <a:xfrm>
            <a:off x="793790" y="361735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272D45"/>
                </a:solidFill>
                <a:latin typeface="Kanit Light" pitchFamily="34" charset="0"/>
                <a:ea typeface="Kanit Light" pitchFamily="34" charset="-122"/>
                <a:cs typeface="Kanit Light" pitchFamily="34" charset="-120"/>
              </a:rPr>
              <a:t>Results</a:t>
            </a:r>
            <a:endParaRPr lang="en-US" sz="2200" dirty="0"/>
          </a:p>
        </p:txBody>
      </p:sp>
      <p:sp>
        <p:nvSpPr>
          <p:cNvPr id="4" name="Text 2"/>
          <p:cNvSpPr/>
          <p:nvPr/>
        </p:nvSpPr>
        <p:spPr>
          <a:xfrm>
            <a:off x="793790" y="4198501"/>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Achieved successful real-time monitoring of critical parameters.</a:t>
            </a:r>
            <a:endParaRPr lang="en-US" sz="1750" dirty="0"/>
          </a:p>
        </p:txBody>
      </p:sp>
      <p:sp>
        <p:nvSpPr>
          <p:cNvPr id="5" name="Text 3"/>
          <p:cNvSpPr/>
          <p:nvPr/>
        </p:nvSpPr>
        <p:spPr>
          <a:xfrm>
            <a:off x="793790" y="500360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Prompt alerts ensured timely interventions.</a:t>
            </a:r>
            <a:endParaRPr lang="en-US" sz="1750" dirty="0"/>
          </a:p>
        </p:txBody>
      </p:sp>
      <p:sp>
        <p:nvSpPr>
          <p:cNvPr id="6" name="Text 4"/>
          <p:cNvSpPr/>
          <p:nvPr/>
        </p:nvSpPr>
        <p:spPr>
          <a:xfrm>
            <a:off x="793790" y="544580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Enhanced greenhouse efficiency and plant health.</a:t>
            </a:r>
            <a:endParaRPr lang="en-US" sz="1750" dirty="0"/>
          </a:p>
        </p:txBody>
      </p:sp>
      <p:sp>
        <p:nvSpPr>
          <p:cNvPr id="7" name="Text 5"/>
          <p:cNvSpPr/>
          <p:nvPr/>
        </p:nvSpPr>
        <p:spPr>
          <a:xfrm>
            <a:off x="7599521" y="361735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272D45"/>
                </a:solidFill>
                <a:latin typeface="Kanit Light" pitchFamily="34" charset="0"/>
                <a:ea typeface="Kanit Light" pitchFamily="34" charset="-122"/>
                <a:cs typeface="Kanit Light" pitchFamily="34" charset="-120"/>
              </a:rPr>
              <a:t>Limitations</a:t>
            </a:r>
            <a:endParaRPr lang="en-US" sz="2200" dirty="0"/>
          </a:p>
        </p:txBody>
      </p:sp>
      <p:sp>
        <p:nvSpPr>
          <p:cNvPr id="8" name="Text 6"/>
          <p:cNvSpPr/>
          <p:nvPr/>
        </p:nvSpPr>
        <p:spPr>
          <a:xfrm>
            <a:off x="7599521" y="4198501"/>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Reliant on Wi-Fi connectivity for cloud data transmission.</a:t>
            </a:r>
            <a:endParaRPr lang="en-US" sz="1750" dirty="0"/>
          </a:p>
        </p:txBody>
      </p:sp>
      <p:sp>
        <p:nvSpPr>
          <p:cNvPr id="9" name="Text 7"/>
          <p:cNvSpPr/>
          <p:nvPr/>
        </p:nvSpPr>
        <p:spPr>
          <a:xfrm>
            <a:off x="7599521" y="500360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Initial setup requires calibration for sensors.</a:t>
            </a:r>
            <a:endParaRPr lang="en-US" sz="1750" dirty="0"/>
          </a:p>
        </p:txBody>
      </p:sp>
      <p:sp>
        <p:nvSpPr>
          <p:cNvPr id="10" name="Text 8"/>
          <p:cNvSpPr/>
          <p:nvPr/>
        </p:nvSpPr>
        <p:spPr>
          <a:xfrm>
            <a:off x="7599521" y="544580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C3249"/>
                </a:solidFill>
                <a:latin typeface="Martel Sans" pitchFamily="34" charset="0"/>
                <a:ea typeface="Martel Sans" pitchFamily="34" charset="-122"/>
                <a:cs typeface="Martel Sans" pitchFamily="34" charset="-120"/>
              </a:rPr>
              <a:t>System not optimized for large-scale greenhouses yet.</a:t>
            </a:r>
            <a:endParaRPr lang="en-US" sz="1750" dirty="0"/>
          </a:p>
        </p:txBody>
      </p:sp>
      <p:sp>
        <p:nvSpPr>
          <p:cNvPr id="11" name="Rectangle 10">
            <a:extLst>
              <a:ext uri="{FF2B5EF4-FFF2-40B4-BE49-F238E27FC236}">
                <a16:creationId xmlns:a16="http://schemas.microsoft.com/office/drawing/2014/main" id="{645762D3-A987-4928-EE4A-054346E87558}"/>
              </a:ext>
            </a:extLst>
          </p:cNvPr>
          <p:cNvSpPr/>
          <p:nvPr/>
        </p:nvSpPr>
        <p:spPr>
          <a:xfrm>
            <a:off x="12444761" y="7237141"/>
            <a:ext cx="2185639" cy="992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28424"/>
            <a:ext cx="5670590" cy="708779"/>
          </a:xfrm>
          <a:prstGeom prst="rect">
            <a:avLst/>
          </a:prstGeom>
          <a:noFill/>
          <a:ln/>
        </p:spPr>
        <p:txBody>
          <a:bodyPr wrap="none" lIns="0" tIns="0" rIns="0" bIns="0" rtlCol="0" anchor="t"/>
          <a:lstStyle/>
          <a:p>
            <a:pPr marL="0" indent="0">
              <a:lnSpc>
                <a:spcPts val="5550"/>
              </a:lnSpc>
              <a:buNone/>
            </a:pPr>
            <a:r>
              <a:rPr lang="en-US" sz="4450" dirty="0">
                <a:solidFill>
                  <a:srgbClr val="272D45"/>
                </a:solidFill>
                <a:latin typeface="Kanit Light" pitchFamily="34" charset="0"/>
                <a:ea typeface="Kanit Light" pitchFamily="34" charset="-122"/>
                <a:cs typeface="Kanit Light" pitchFamily="34" charset="-120"/>
              </a:rPr>
              <a:t>Future Scope</a:t>
            </a:r>
            <a:endParaRPr lang="en-US" sz="4450" dirty="0"/>
          </a:p>
        </p:txBody>
      </p:sp>
      <p:pic>
        <p:nvPicPr>
          <p:cNvPr id="3" name="Image 0" descr="preencoded.png"/>
          <p:cNvPicPr>
            <a:picLocks noChangeAspect="1"/>
          </p:cNvPicPr>
          <p:nvPr/>
        </p:nvPicPr>
        <p:blipFill>
          <a:blip r:embed="rId3"/>
          <a:stretch>
            <a:fillRect/>
          </a:stretch>
        </p:blipFill>
        <p:spPr>
          <a:xfrm>
            <a:off x="3408759" y="1890832"/>
            <a:ext cx="1291233" cy="807958"/>
          </a:xfrm>
          <a:prstGeom prst="rect">
            <a:avLst/>
          </a:prstGeom>
        </p:spPr>
      </p:pic>
      <p:sp>
        <p:nvSpPr>
          <p:cNvPr id="4" name="Text 1"/>
          <p:cNvSpPr/>
          <p:nvPr/>
        </p:nvSpPr>
        <p:spPr>
          <a:xfrm>
            <a:off x="4011216" y="2155150"/>
            <a:ext cx="86201" cy="453509"/>
          </a:xfrm>
          <a:prstGeom prst="rect">
            <a:avLst/>
          </a:prstGeom>
          <a:noFill/>
          <a:ln/>
        </p:spPr>
        <p:txBody>
          <a:bodyPr wrap="none" lIns="0" tIns="0" rIns="0" bIns="0" rtlCol="0" anchor="t"/>
          <a:lstStyle/>
          <a:p>
            <a:pPr marL="0" indent="0" algn="ctr">
              <a:lnSpc>
                <a:spcPts val="3550"/>
              </a:lnSpc>
              <a:buNone/>
            </a:pPr>
            <a:r>
              <a:rPr lang="en-US" sz="2200" dirty="0">
                <a:solidFill>
                  <a:srgbClr val="2C3249"/>
                </a:solidFill>
                <a:latin typeface="Kanit Light" pitchFamily="34" charset="0"/>
                <a:ea typeface="Kanit Light" pitchFamily="34" charset="-122"/>
                <a:cs typeface="Kanit Light" pitchFamily="34" charset="-120"/>
              </a:rPr>
              <a:t>1</a:t>
            </a:r>
            <a:endParaRPr lang="en-US" sz="2200" dirty="0"/>
          </a:p>
        </p:txBody>
      </p:sp>
      <p:sp>
        <p:nvSpPr>
          <p:cNvPr id="5" name="Text 2"/>
          <p:cNvSpPr/>
          <p:nvPr/>
        </p:nvSpPr>
        <p:spPr>
          <a:xfrm>
            <a:off x="4926806" y="2117646"/>
            <a:ext cx="2928104"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Enhanced Functionality</a:t>
            </a:r>
            <a:endParaRPr lang="en-US" sz="2200" dirty="0"/>
          </a:p>
        </p:txBody>
      </p:sp>
      <p:sp>
        <p:nvSpPr>
          <p:cNvPr id="6" name="Shape 3"/>
          <p:cNvSpPr/>
          <p:nvPr/>
        </p:nvSpPr>
        <p:spPr>
          <a:xfrm>
            <a:off x="4756666" y="2711887"/>
            <a:ext cx="9023271" cy="15240"/>
          </a:xfrm>
          <a:prstGeom prst="roundRect">
            <a:avLst>
              <a:gd name="adj" fmla="val 625116"/>
            </a:avLst>
          </a:prstGeom>
          <a:solidFill>
            <a:srgbClr val="C5D2CF"/>
          </a:solidFill>
          <a:ln/>
        </p:spPr>
      </p:sp>
      <p:pic>
        <p:nvPicPr>
          <p:cNvPr id="7" name="Image 1" descr="preencoded.png"/>
          <p:cNvPicPr>
            <a:picLocks noChangeAspect="1"/>
          </p:cNvPicPr>
          <p:nvPr/>
        </p:nvPicPr>
        <p:blipFill>
          <a:blip r:embed="rId4"/>
          <a:stretch>
            <a:fillRect/>
          </a:stretch>
        </p:blipFill>
        <p:spPr>
          <a:xfrm>
            <a:off x="2763203" y="2755463"/>
            <a:ext cx="2582466" cy="807958"/>
          </a:xfrm>
          <a:prstGeom prst="rect">
            <a:avLst/>
          </a:prstGeom>
        </p:spPr>
      </p:pic>
      <p:sp>
        <p:nvSpPr>
          <p:cNvPr id="8" name="Text 4"/>
          <p:cNvSpPr/>
          <p:nvPr/>
        </p:nvSpPr>
        <p:spPr>
          <a:xfrm>
            <a:off x="3982641" y="2932628"/>
            <a:ext cx="143470" cy="453509"/>
          </a:xfrm>
          <a:prstGeom prst="rect">
            <a:avLst/>
          </a:prstGeom>
          <a:noFill/>
          <a:ln/>
        </p:spPr>
        <p:txBody>
          <a:bodyPr wrap="none" lIns="0" tIns="0" rIns="0" bIns="0" rtlCol="0" anchor="t"/>
          <a:lstStyle/>
          <a:p>
            <a:pPr marL="0" indent="0" algn="ctr">
              <a:lnSpc>
                <a:spcPts val="3550"/>
              </a:lnSpc>
              <a:buNone/>
            </a:pPr>
            <a:r>
              <a:rPr lang="en-US" sz="2200" dirty="0">
                <a:solidFill>
                  <a:srgbClr val="2C3249"/>
                </a:solidFill>
                <a:latin typeface="Kanit Light" pitchFamily="34" charset="0"/>
                <a:ea typeface="Kanit Light" pitchFamily="34" charset="-122"/>
                <a:cs typeface="Kanit Light" pitchFamily="34" charset="-120"/>
              </a:rPr>
              <a:t>2</a:t>
            </a:r>
            <a:endParaRPr lang="en-US" sz="2200" dirty="0"/>
          </a:p>
        </p:txBody>
      </p:sp>
      <p:sp>
        <p:nvSpPr>
          <p:cNvPr id="9" name="Text 5"/>
          <p:cNvSpPr/>
          <p:nvPr/>
        </p:nvSpPr>
        <p:spPr>
          <a:xfrm>
            <a:off x="5572482" y="2982277"/>
            <a:ext cx="2458283"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Advanced Analytics</a:t>
            </a:r>
            <a:endParaRPr lang="en-US" sz="2200" dirty="0"/>
          </a:p>
        </p:txBody>
      </p:sp>
      <p:sp>
        <p:nvSpPr>
          <p:cNvPr id="10" name="Shape 6"/>
          <p:cNvSpPr/>
          <p:nvPr/>
        </p:nvSpPr>
        <p:spPr>
          <a:xfrm>
            <a:off x="5402342" y="3576518"/>
            <a:ext cx="8377595" cy="15240"/>
          </a:xfrm>
          <a:prstGeom prst="roundRect">
            <a:avLst>
              <a:gd name="adj" fmla="val 625116"/>
            </a:avLst>
          </a:prstGeom>
          <a:solidFill>
            <a:srgbClr val="C5D2CF"/>
          </a:solidFill>
          <a:ln/>
        </p:spPr>
      </p:sp>
      <p:pic>
        <p:nvPicPr>
          <p:cNvPr id="11" name="Image 2" descr="preencoded.png"/>
          <p:cNvPicPr>
            <a:picLocks noChangeAspect="1"/>
          </p:cNvPicPr>
          <p:nvPr/>
        </p:nvPicPr>
        <p:blipFill>
          <a:blip r:embed="rId5"/>
          <a:stretch>
            <a:fillRect/>
          </a:stretch>
        </p:blipFill>
        <p:spPr>
          <a:xfrm>
            <a:off x="2117527" y="3620095"/>
            <a:ext cx="3873698" cy="807958"/>
          </a:xfrm>
          <a:prstGeom prst="rect">
            <a:avLst/>
          </a:prstGeom>
        </p:spPr>
      </p:pic>
      <p:sp>
        <p:nvSpPr>
          <p:cNvPr id="12" name="Text 7"/>
          <p:cNvSpPr/>
          <p:nvPr/>
        </p:nvSpPr>
        <p:spPr>
          <a:xfrm>
            <a:off x="3981450" y="3797260"/>
            <a:ext cx="145733" cy="453509"/>
          </a:xfrm>
          <a:prstGeom prst="rect">
            <a:avLst/>
          </a:prstGeom>
          <a:noFill/>
          <a:ln/>
        </p:spPr>
        <p:txBody>
          <a:bodyPr wrap="none" lIns="0" tIns="0" rIns="0" bIns="0" rtlCol="0" anchor="t"/>
          <a:lstStyle/>
          <a:p>
            <a:pPr marL="0" indent="0" algn="ctr">
              <a:lnSpc>
                <a:spcPts val="3550"/>
              </a:lnSpc>
              <a:buNone/>
            </a:pPr>
            <a:r>
              <a:rPr lang="en-US" sz="2200" dirty="0">
                <a:solidFill>
                  <a:srgbClr val="2C3249"/>
                </a:solidFill>
                <a:latin typeface="Kanit Light" pitchFamily="34" charset="0"/>
                <a:ea typeface="Kanit Light" pitchFamily="34" charset="-122"/>
                <a:cs typeface="Kanit Light" pitchFamily="34" charset="-120"/>
              </a:rPr>
              <a:t>3</a:t>
            </a:r>
            <a:endParaRPr lang="en-US" sz="2200" dirty="0"/>
          </a:p>
        </p:txBody>
      </p:sp>
      <p:sp>
        <p:nvSpPr>
          <p:cNvPr id="13" name="Text 8"/>
          <p:cNvSpPr/>
          <p:nvPr/>
        </p:nvSpPr>
        <p:spPr>
          <a:xfrm>
            <a:off x="6218039" y="3846909"/>
            <a:ext cx="1300758"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Scalability</a:t>
            </a:r>
            <a:endParaRPr lang="en-US" sz="2200" dirty="0"/>
          </a:p>
        </p:txBody>
      </p:sp>
      <p:sp>
        <p:nvSpPr>
          <p:cNvPr id="14" name="Shape 9"/>
          <p:cNvSpPr/>
          <p:nvPr/>
        </p:nvSpPr>
        <p:spPr>
          <a:xfrm>
            <a:off x="6047899" y="4441150"/>
            <a:ext cx="7732038" cy="15240"/>
          </a:xfrm>
          <a:prstGeom prst="roundRect">
            <a:avLst>
              <a:gd name="adj" fmla="val 625116"/>
            </a:avLst>
          </a:prstGeom>
          <a:solidFill>
            <a:srgbClr val="C5D2CF"/>
          </a:solidFill>
          <a:ln/>
        </p:spPr>
      </p:sp>
      <p:pic>
        <p:nvPicPr>
          <p:cNvPr id="15" name="Image 3" descr="preencoded.png"/>
          <p:cNvPicPr>
            <a:picLocks noChangeAspect="1"/>
          </p:cNvPicPr>
          <p:nvPr/>
        </p:nvPicPr>
        <p:blipFill>
          <a:blip r:embed="rId6"/>
          <a:stretch>
            <a:fillRect/>
          </a:stretch>
        </p:blipFill>
        <p:spPr>
          <a:xfrm>
            <a:off x="1471970" y="4484727"/>
            <a:ext cx="5164931" cy="807958"/>
          </a:xfrm>
          <a:prstGeom prst="rect">
            <a:avLst/>
          </a:prstGeom>
        </p:spPr>
      </p:pic>
      <p:sp>
        <p:nvSpPr>
          <p:cNvPr id="16" name="Text 10"/>
          <p:cNvSpPr/>
          <p:nvPr/>
        </p:nvSpPr>
        <p:spPr>
          <a:xfrm>
            <a:off x="3977640" y="4661892"/>
            <a:ext cx="153353" cy="453509"/>
          </a:xfrm>
          <a:prstGeom prst="rect">
            <a:avLst/>
          </a:prstGeom>
          <a:noFill/>
          <a:ln/>
        </p:spPr>
        <p:txBody>
          <a:bodyPr wrap="none" lIns="0" tIns="0" rIns="0" bIns="0" rtlCol="0" anchor="t"/>
          <a:lstStyle/>
          <a:p>
            <a:pPr marL="0" indent="0" algn="ctr">
              <a:lnSpc>
                <a:spcPts val="3550"/>
              </a:lnSpc>
              <a:buNone/>
            </a:pPr>
            <a:r>
              <a:rPr lang="en-US" sz="2200" dirty="0">
                <a:solidFill>
                  <a:srgbClr val="2C3249"/>
                </a:solidFill>
                <a:latin typeface="Kanit Light" pitchFamily="34" charset="0"/>
                <a:ea typeface="Kanit Light" pitchFamily="34" charset="-122"/>
                <a:cs typeface="Kanit Light" pitchFamily="34" charset="-120"/>
              </a:rPr>
              <a:t>4</a:t>
            </a:r>
            <a:endParaRPr lang="en-US" sz="2200" dirty="0"/>
          </a:p>
        </p:txBody>
      </p:sp>
      <p:sp>
        <p:nvSpPr>
          <p:cNvPr id="17" name="Text 11"/>
          <p:cNvSpPr/>
          <p:nvPr/>
        </p:nvSpPr>
        <p:spPr>
          <a:xfrm>
            <a:off x="6863715" y="4711541"/>
            <a:ext cx="2858095"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User-Friendly Interface</a:t>
            </a:r>
            <a:endParaRPr lang="en-US" sz="2200" dirty="0"/>
          </a:p>
        </p:txBody>
      </p:sp>
      <p:sp>
        <p:nvSpPr>
          <p:cNvPr id="18" name="Shape 12"/>
          <p:cNvSpPr/>
          <p:nvPr/>
        </p:nvSpPr>
        <p:spPr>
          <a:xfrm>
            <a:off x="6693575" y="5305782"/>
            <a:ext cx="7086362" cy="15240"/>
          </a:xfrm>
          <a:prstGeom prst="roundRect">
            <a:avLst>
              <a:gd name="adj" fmla="val 625116"/>
            </a:avLst>
          </a:prstGeom>
          <a:solidFill>
            <a:srgbClr val="C5D2CF"/>
          </a:solidFill>
          <a:ln/>
        </p:spPr>
      </p:sp>
      <p:pic>
        <p:nvPicPr>
          <p:cNvPr id="19" name="Image 4" descr="preencoded.png"/>
          <p:cNvPicPr>
            <a:picLocks noChangeAspect="1"/>
          </p:cNvPicPr>
          <p:nvPr/>
        </p:nvPicPr>
        <p:blipFill>
          <a:blip r:embed="rId7"/>
          <a:stretch>
            <a:fillRect/>
          </a:stretch>
        </p:blipFill>
        <p:spPr>
          <a:xfrm>
            <a:off x="826294" y="5349359"/>
            <a:ext cx="6456164" cy="807958"/>
          </a:xfrm>
          <a:prstGeom prst="rect">
            <a:avLst/>
          </a:prstGeom>
        </p:spPr>
      </p:pic>
      <p:sp>
        <p:nvSpPr>
          <p:cNvPr id="20" name="Text 13"/>
          <p:cNvSpPr/>
          <p:nvPr/>
        </p:nvSpPr>
        <p:spPr>
          <a:xfrm>
            <a:off x="3981807" y="5526524"/>
            <a:ext cx="145137" cy="453509"/>
          </a:xfrm>
          <a:prstGeom prst="rect">
            <a:avLst/>
          </a:prstGeom>
          <a:noFill/>
          <a:ln/>
        </p:spPr>
        <p:txBody>
          <a:bodyPr wrap="none" lIns="0" tIns="0" rIns="0" bIns="0" rtlCol="0" anchor="t"/>
          <a:lstStyle/>
          <a:p>
            <a:pPr marL="0" indent="0" algn="ctr">
              <a:lnSpc>
                <a:spcPts val="3550"/>
              </a:lnSpc>
              <a:buNone/>
            </a:pPr>
            <a:r>
              <a:rPr lang="en-US" sz="2200" dirty="0">
                <a:solidFill>
                  <a:srgbClr val="2C3249"/>
                </a:solidFill>
                <a:latin typeface="Kanit Light" pitchFamily="34" charset="0"/>
                <a:ea typeface="Kanit Light" pitchFamily="34" charset="-122"/>
                <a:cs typeface="Kanit Light" pitchFamily="34" charset="-120"/>
              </a:rPr>
              <a:t>5</a:t>
            </a:r>
            <a:endParaRPr lang="en-US" sz="2200" dirty="0"/>
          </a:p>
        </p:txBody>
      </p:sp>
      <p:sp>
        <p:nvSpPr>
          <p:cNvPr id="21" name="Text 14"/>
          <p:cNvSpPr/>
          <p:nvPr/>
        </p:nvSpPr>
        <p:spPr>
          <a:xfrm>
            <a:off x="7509272" y="5576173"/>
            <a:ext cx="2974300" cy="354330"/>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Smart Home Integration</a:t>
            </a:r>
            <a:endParaRPr lang="en-US" sz="2200" dirty="0"/>
          </a:p>
        </p:txBody>
      </p:sp>
      <p:sp>
        <p:nvSpPr>
          <p:cNvPr id="22" name="Text 15"/>
          <p:cNvSpPr/>
          <p:nvPr/>
        </p:nvSpPr>
        <p:spPr>
          <a:xfrm>
            <a:off x="793790" y="6412468"/>
            <a:ext cx="13042821" cy="1088708"/>
          </a:xfrm>
          <a:prstGeom prst="rect">
            <a:avLst/>
          </a:prstGeom>
          <a:noFill/>
          <a:ln/>
        </p:spPr>
        <p:txBody>
          <a:bodyPr wrap="square" lIns="0" tIns="0" rIns="0" bIns="0" rtlCol="0" anchor="t"/>
          <a:lstStyle/>
          <a:p>
            <a:pPr marL="0" indent="0">
              <a:lnSpc>
                <a:spcPts val="2850"/>
              </a:lnSpc>
              <a:buNone/>
            </a:pPr>
            <a:r>
              <a:rPr lang="en-US" sz="1750" dirty="0">
                <a:solidFill>
                  <a:srgbClr val="2C3249"/>
                </a:solidFill>
                <a:latin typeface="Martel Sans" pitchFamily="34" charset="0"/>
                <a:ea typeface="Martel Sans" pitchFamily="34" charset="-122"/>
                <a:cs typeface="Martel Sans" pitchFamily="34" charset="-120"/>
              </a:rPr>
              <a:t>Add sensors for pH, CO₂, and water quality. Automate irrigation and light adjustments. Integrate machine learning for predictive insights. Adapt the system for larger greenhouses with multiple nodes. Improve the mobile app with graphical data and historical trends. Enable voice commands via Alexa or Google Assistant.</a:t>
            </a:r>
            <a:endParaRPr lang="en-US" sz="1750" dirty="0"/>
          </a:p>
        </p:txBody>
      </p:sp>
      <p:sp>
        <p:nvSpPr>
          <p:cNvPr id="23" name="Rectangle 22">
            <a:extLst>
              <a:ext uri="{FF2B5EF4-FFF2-40B4-BE49-F238E27FC236}">
                <a16:creationId xmlns:a16="http://schemas.microsoft.com/office/drawing/2014/main" id="{5B110ECC-47F6-92FD-6073-90C84EA7FFE4}"/>
              </a:ext>
            </a:extLst>
          </p:cNvPr>
          <p:cNvSpPr/>
          <p:nvPr/>
        </p:nvSpPr>
        <p:spPr>
          <a:xfrm>
            <a:off x="12444761" y="7237141"/>
            <a:ext cx="2185639" cy="992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mc:Choice xmlns:p14="http://schemas.microsoft.com/office/powerpoint/2010/main" Requires="p14">
      <p:transition spd="slow" p14:dur="1750">
        <p:push/>
      </p:transition>
    </mc:Choice>
    <mc:Fallback>
      <p:transition spd="slow">
        <p:push/>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381</Words>
  <Application>Microsoft Office PowerPoint</Application>
  <PresentationFormat>Custom</PresentationFormat>
  <Paragraphs>66</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Calibri</vt:lpstr>
      <vt:lpstr>Martel Sans</vt:lpstr>
      <vt:lpstr>Arial</vt:lpstr>
      <vt:lpstr>Kanit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AKHIL  RAWAT</cp:lastModifiedBy>
  <cp:revision>3</cp:revision>
  <dcterms:created xsi:type="dcterms:W3CDTF">2025-01-14T18:06:17Z</dcterms:created>
  <dcterms:modified xsi:type="dcterms:W3CDTF">2025-01-14T18:36:22Z</dcterms:modified>
</cp:coreProperties>
</file>